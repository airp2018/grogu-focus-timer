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de84e0f16540f9" /><Relationship Type="http://schemas.openxmlformats.org/officeDocument/2006/relationships/extended-properties" Target="/docProps/app.xml" Id="Rc5a0ba18fa494305" /><Relationship Type="http://schemas.openxmlformats.org/officeDocument/2006/relationships/officeDocument" Target="/ppt/presentation.xml" Id="Rfe25860ef1d34f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063ac97a7040f0"/>
  </p:sldMasterIdLst>
  <p:notesMasterIdLst>
    <p:notesMasterId xmlns:r="http://schemas.openxmlformats.org/officeDocument/2006/relationships" r:id="R4232f063b6c84bc9"/>
  </p:notesMasterIdLst>
  <p:sldIdLst>
    <p:sldId xmlns:r="http://schemas.openxmlformats.org/officeDocument/2006/relationships" id="256" r:id="R152a710d95434c39"/>
    <p:sldId xmlns:r="http://schemas.openxmlformats.org/officeDocument/2006/relationships" id="257" r:id="R1c4312c9590849fd"/>
    <p:sldId xmlns:r="http://schemas.openxmlformats.org/officeDocument/2006/relationships" id="258" r:id="R2b8abad7074b4c28"/>
    <p:sldId xmlns:r="http://schemas.openxmlformats.org/officeDocument/2006/relationships" id="259" r:id="Rca005f6be126431e"/>
    <p:sldId xmlns:r="http://schemas.openxmlformats.org/officeDocument/2006/relationships" id="260" r:id="R3880ed6e04864a5c"/>
    <p:sldId xmlns:r="http://schemas.openxmlformats.org/officeDocument/2006/relationships" id="261" r:id="R4ab44ecf8d1542e5"/>
    <p:sldId xmlns:r="http://schemas.openxmlformats.org/officeDocument/2006/relationships" id="262" r:id="R9299cbe921f04b3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f693318738490d" /><Relationship Type="http://schemas.openxmlformats.org/officeDocument/2006/relationships/slideMaster" Target="/ppt/slideMasters/slideMaster1.xml" Id="R5e063ac97a7040f0" /><Relationship Type="http://schemas.openxmlformats.org/officeDocument/2006/relationships/notesMaster" Target="/ppt/notesMasters/notesMaster1.xml" Id="R4232f063b6c84bc9" /><Relationship Type="http://schemas.openxmlformats.org/officeDocument/2006/relationships/presProps" Target="/ppt/presProps.xml" Id="R075189276e584eab" /><Relationship Type="http://schemas.openxmlformats.org/officeDocument/2006/relationships/tableStyles" Target="/ppt/tableStyles.xml" Id="R045a39ad187949b6" /><Relationship Type="http://schemas.openxmlformats.org/officeDocument/2006/relationships/slide" Target="/ppt/slides/slide1.xml" Id="R152a710d95434c39" /><Relationship Type="http://schemas.openxmlformats.org/officeDocument/2006/relationships/slide" Target="/ppt/slides/slide2.xml" Id="R1c4312c9590849fd" /><Relationship Type="http://schemas.openxmlformats.org/officeDocument/2006/relationships/slide" Target="/ppt/slides/slide3.xml" Id="R2b8abad7074b4c28" /><Relationship Type="http://schemas.openxmlformats.org/officeDocument/2006/relationships/slide" Target="/ppt/slides/slide4.xml" Id="Rca005f6be126431e" /><Relationship Type="http://schemas.openxmlformats.org/officeDocument/2006/relationships/slide" Target="/ppt/slides/slide5.xml" Id="R3880ed6e04864a5c" /><Relationship Type="http://schemas.openxmlformats.org/officeDocument/2006/relationships/slide" Target="/ppt/slides/slide6.xml" Id="R4ab44ecf8d1542e5" /><Relationship Type="http://schemas.openxmlformats.org/officeDocument/2006/relationships/slide" Target="/ppt/slides/slide7.xml" Id="R9299cbe921f04b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4578014e1247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c024b611ab476d" /><Relationship Type="http://schemas.openxmlformats.org/officeDocument/2006/relationships/notesMaster" Target="/ppt/notesMasters/notesMaster1.xml" Id="Ra2408815d52f40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2d07c8648d4565" /><Relationship Type="http://schemas.openxmlformats.org/officeDocument/2006/relationships/notesMaster" Target="/ppt/notesMasters/notesMaster1.xml" Id="Rbaa34abeaf8046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4c28a269a94d65" /><Relationship Type="http://schemas.openxmlformats.org/officeDocument/2006/relationships/notesMaster" Target="/ppt/notesMasters/notesMaster1.xml" Id="Rc9c55eb2f40540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52fe6293894e43" /><Relationship Type="http://schemas.openxmlformats.org/officeDocument/2006/relationships/notesMaster" Target="/ppt/notesMasters/notesMaster1.xml" Id="R3804e8e3c0be48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e884b36e1d4ca6" /><Relationship Type="http://schemas.openxmlformats.org/officeDocument/2006/relationships/notesMaster" Target="/ppt/notesMasters/notesMaster1.xml" Id="R5a148e03fc2744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6b349bba88481b" /><Relationship Type="http://schemas.openxmlformats.org/officeDocument/2006/relationships/notesMaster" Target="/ppt/notesMasters/notesMaster1.xml" Id="Re56997cad1b74d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8d8658add34044" /><Relationship Type="http://schemas.openxmlformats.org/officeDocument/2006/relationships/notesMaster" Target="/ppt/notesMasters/notesMaster1.xml" Id="R7e85f686ac0542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5721bbef644d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1d5264278b4d72" /><Relationship Type="http://schemas.openxmlformats.org/officeDocument/2006/relationships/slideLayout" Target="/ppt/slideLayouts/slideLayout1.xml" Id="R16807296d9fd47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807296d9fd47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bcfcabc5d4d40" /><Relationship Type="http://schemas.openxmlformats.org/officeDocument/2006/relationships/image" Target="/ppt/media/image.png" Id="Ra2c086129ffe4483" /><Relationship Type="http://schemas.openxmlformats.org/officeDocument/2006/relationships/notesSlide" Target="/ppt/notesSlides/notesSlide1.xml" Id="Rb6d4163af83e40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ffff2fc634424" /><Relationship Type="http://schemas.openxmlformats.org/officeDocument/2006/relationships/notesSlide" Target="/ppt/notesSlides/notesSlide2.xml" Id="R32434b46a80444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448ac41ea4eaf" /><Relationship Type="http://schemas.openxmlformats.org/officeDocument/2006/relationships/notesSlide" Target="/ppt/notesSlides/notesSlide3.xml" Id="Ra87043576d4249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7f78c9bff4bc7" /><Relationship Type="http://schemas.openxmlformats.org/officeDocument/2006/relationships/image" Target="/ppt/media/image.bin" Id="R759cdf182289471d" /><Relationship Type="http://schemas.openxmlformats.org/officeDocument/2006/relationships/image" Target="/ppt/media/image2.bin" Id="R70bdbf4ddad143e9" /><Relationship Type="http://schemas.openxmlformats.org/officeDocument/2006/relationships/image" Target="/ppt/media/image3.bin" Id="Re8c88312f60f4429" /><Relationship Type="http://schemas.openxmlformats.org/officeDocument/2006/relationships/notesSlide" Target="/ppt/notesSlides/notesSlide4.xml" Id="R0734817e2b3249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4b0a4dd2f4311" /><Relationship Type="http://schemas.openxmlformats.org/officeDocument/2006/relationships/notesSlide" Target="/ppt/notesSlides/notesSlide5.xml" Id="Rc01bb149a0884e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0dcdbbd644f05" /><Relationship Type="http://schemas.openxmlformats.org/officeDocument/2006/relationships/notesSlide" Target="/ppt/notesSlides/notesSlide6.xml" Id="R25d76fb1365a48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0c0aafa6d48a2" /><Relationship Type="http://schemas.openxmlformats.org/officeDocument/2006/relationships/notesSlide" Target="/ppt/notesSlides/notesSlide7.xml" Id="R15ed67cca42848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DF94A0-DF15-42B0-A85C-15850355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379CE-3E31-49E8-B701-290C20D6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6C8F8-8CAE-4588-A517-B204B878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4F7EF"/>
                </a:solidFill>
              </a:defRPr>
            </a:pPr>
            <a:r>
              <a:rPr sz="4200" b="1">
                <a:solidFill>
                  <a:srgbClr val="F4F7EF"/>
                </a:solidFill>
              </a:rPr>
              <a:t>尤达宝宝时间管理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A31CD-3C19-48F9-8BC1-FFB749C4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9CFC6"/>
                </a:solidFill>
              </a:defRPr>
            </a:pPr>
            <a:r>
              <a:rPr sz="1800">
                <a:solidFill>
                  <a:srgbClr val="B9CFC6"/>
                </a:solidFill>
              </a:rPr>
              <a:t>浏览器里的陪伴电子宠物，轻轻提醒你回到当下。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A4085-4F05-4E96-B9F3-0FA8BCB4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3144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8FBF2"/>
          </a:solidFill>
          <a:ln xmlns:a="http://schemas.openxmlformats.org/drawingml/2006/main" w="9525">
            <a:solidFill>
              <a:srgbClr val="FFFFFF">
                <a:alpha val="53333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37AEA-3AD9-42BA-ADC1-0D7C1F67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C83FF"/>
                </a:solidFill>
              </a:defRPr>
            </a:pPr>
            <a:r>
              <a:rPr sz="1500" b="1">
                <a:solidFill>
                  <a:srgbClr val="7C83FF"/>
                </a:solidFill>
              </a:rPr>
              <a:t>漂浮摇篮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35F1F-73E1-4292-9527-B9A21767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47950"/>
            <a:ext cx="13144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8FBF2"/>
          </a:solidFill>
          <a:ln xmlns:a="http://schemas.openxmlformats.org/drawingml/2006/main" w="9525">
            <a:solidFill>
              <a:srgbClr val="FFFFFF">
                <a:alpha val="53333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A10E6-7888-4F4A-87F1-252367CE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7D67A"/>
                </a:solidFill>
              </a:defRPr>
            </a:pPr>
            <a:r>
              <a:rPr sz="1500" b="1">
                <a:solidFill>
                  <a:srgbClr val="37D67A"/>
                </a:solidFill>
              </a:rPr>
              <a:t>随机表情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3AAF3-E4E5-486C-B9A8-FF6E59CA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11049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8FBF2"/>
          </a:solidFill>
          <a:ln xmlns:a="http://schemas.openxmlformats.org/drawingml/2006/main" w="9525">
            <a:solidFill>
              <a:srgbClr val="FFFFFF">
                <a:alpha val="53333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CC3E3-621B-4D8C-89B9-28E2F29B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24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166"/>
                </a:solidFill>
              </a:defRPr>
            </a:pPr>
            <a:r>
              <a:rPr sz="1500" b="1">
                <a:solidFill>
                  <a:srgbClr val="FFD166"/>
                </a:solidFill>
              </a:rPr>
              <a:t>轻提醒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ACA17-0D06-40A4-84C9-A98FA73A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F7EF"/>
                </a:solidFill>
              </a:defRPr>
            </a:pPr>
            <a:r>
              <a:rPr sz="2550" b="1">
                <a:solidFill>
                  <a:srgbClr val="F4F7EF"/>
                </a:solidFill>
              </a:rPr>
              <a:t>不是管教，是陪伴。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086129ffe4483"/>
          <a:srcRect xmlns:a="http://schemas.openxmlformats.org/drawingml/2006/main" l="3333" t="0" r="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323850"/>
            <a:ext cx="4000500" cy="61912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</p:spTree>
    <p:extLst>
      <p:ext uri="{BB962C8B-B14F-4D97-AF65-F5344CB8AC3E}">
        <p14:creationId xmlns:p14="http://schemas.microsoft.com/office/powerpoint/2010/main" val="260843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C93320-42A7-474E-9BC9-5C316959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47036-C7CF-4FE8-A7A2-E42072C9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34B1F-57BC-4053-A072-C4C6A709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4F7EF"/>
                </a:solidFill>
              </a:defRPr>
            </a:pPr>
            <a:r>
              <a:rPr sz="3150" b="1">
                <a:solidFill>
                  <a:srgbClr val="F4F7EF"/>
                </a:solidFill>
              </a:rPr>
              <a:t>用户不是缺一个管教工具，而是想要一个在身边的小东西。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5A2FB-CDED-4B91-BBF8-5045D16F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F01E8-4E67-451A-A31F-327761DA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64F3C-99E0-4131-9051-A1F5055C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EF"/>
                </a:solidFill>
              </a:defRPr>
            </a:pPr>
            <a:r>
              <a:rPr sz="1950" b="1">
                <a:solidFill>
                  <a:srgbClr val="F4F7EF"/>
                </a:solidFill>
              </a:rPr>
              <a:t>严肃效率软件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635EC-6F99-477D-B33A-AD48B3C9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2647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CFC6"/>
                </a:solidFill>
              </a:defRPr>
            </a:pPr>
            <a:r>
              <a:rPr sz="1350">
                <a:solidFill>
                  <a:srgbClr val="B9CFC6"/>
                </a:solidFill>
              </a:rPr>
              <a:t>目标、报表、统计、强约束。</a:t>
            </a:r>
          </a:p>
          <a:p xmlns:a="http://schemas.openxmlformats.org/drawingml/2006/main">
            <a:pPr>
              <a:defRPr sz="1350">
                <a:solidFill>
                  <a:srgbClr val="B9CFC6"/>
                </a:solidFill>
              </a:defRPr>
            </a:pPr>
            <a:r>
              <a:rPr sz="1350">
                <a:solidFill>
                  <a:srgbClr val="B9CFC6"/>
                </a:solidFill>
              </a:rPr>
              <a:t>有用，但容易变成负担。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AE5F7-9A43-4901-8FEC-82B59875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CF002-CD9D-49E9-8371-1D535BF7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67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0FE32-4E94-460C-BF0B-6448CD60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955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EF"/>
                </a:solidFill>
              </a:defRPr>
            </a:pPr>
            <a:r>
              <a:rPr sz="1950" b="1">
                <a:solidFill>
                  <a:srgbClr val="F4F7EF"/>
                </a:solidFill>
              </a:rPr>
              <a:t>古古陪伴插件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EC10F-DB44-4F85-BD16-00A16871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2647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CFC6"/>
                </a:solidFill>
              </a:defRPr>
            </a:pPr>
            <a:r>
              <a:rPr sz="1350">
                <a:solidFill>
                  <a:srgbClr val="B9CFC6"/>
                </a:solidFill>
              </a:rPr>
              <a:t>漂过网页、给一点表情、偶尔提醒。</a:t>
            </a:r>
          </a:p>
          <a:p xmlns:a="http://schemas.openxmlformats.org/drawingml/2006/main">
            <a:pPr>
              <a:defRPr sz="1350">
                <a:solidFill>
                  <a:srgbClr val="B9CFC6"/>
                </a:solidFill>
              </a:defRPr>
            </a:pPr>
            <a:r>
              <a:rPr sz="1350">
                <a:solidFill>
                  <a:srgbClr val="B9CFC6"/>
                </a:solidFill>
              </a:rPr>
              <a:t>轻，不抢用户的主场。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F4A23-2B41-4E40-A324-6DD38800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15AAD-AD6D-4C5C-AB74-6B7702D2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3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0182F-7706-4121-89FF-AAFEE9C7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955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EF"/>
                </a:solidFill>
              </a:defRPr>
            </a:pPr>
            <a:r>
              <a:rPr sz="1950" b="1">
                <a:solidFill>
                  <a:srgbClr val="F4F7EF"/>
                </a:solidFill>
              </a:rPr>
              <a:t>真正卖点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CB47C7-2A59-432D-99FF-C79400B4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2647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CFC6"/>
                </a:solidFill>
              </a:defRPr>
            </a:pPr>
            <a:r>
              <a:rPr sz="1350">
                <a:solidFill>
                  <a:srgbClr val="B9CFC6"/>
                </a:solidFill>
              </a:rPr>
              <a:t>不是证明你变高效，</a:t>
            </a:r>
          </a:p>
          <a:p xmlns:a="http://schemas.openxmlformats.org/drawingml/2006/main">
            <a:pPr>
              <a:defRPr sz="1350">
                <a:solidFill>
                  <a:srgbClr val="B9CFC6"/>
                </a:solidFill>
              </a:defRPr>
            </a:pPr>
            <a:r>
              <a:rPr sz="1350">
                <a:solidFill>
                  <a:srgbClr val="B9CFC6"/>
                </a:solidFill>
              </a:rPr>
              <a:t>而是让写作、编码、阅读更没那么孤单。</a:t>
            </a:r>
          </a:p>
        </p:txBody>
      </p:sp>
    </p:spTree>
    <p:extLst>
      <p:ext uri="{BB962C8B-B14F-4D97-AF65-F5344CB8AC3E}">
        <p14:creationId xmlns:p14="http://schemas.microsoft.com/office/powerpoint/2010/main" val="19913137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C9D6BA-4DBC-4AC0-A3A9-C53172DD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99335-8ACC-46DA-81CC-9156B938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A9640-E6D2-472E-9FEA-7F52159C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7EF"/>
                </a:solidFill>
              </a:defRPr>
            </a:pPr>
            <a:r>
              <a:rPr sz="3300" b="1">
                <a:solidFill>
                  <a:srgbClr val="F4F7EF"/>
                </a:solidFill>
              </a:rPr>
              <a:t>核心体验是一条很短的陪伴循环。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A2166-3C63-4735-B986-4506B10D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3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880EC-0AE7-400A-911D-A71A9D35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017"/>
                </a:solidFill>
              </a:defRPr>
            </a:pPr>
            <a:r>
              <a:rPr sz="2250" b="1">
                <a:solidFill>
                  <a:srgbClr val="071017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C9A69-4611-4853-A717-381FC678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432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F7EF"/>
                </a:solidFill>
              </a:defRPr>
            </a:pPr>
            <a:r>
              <a:rPr sz="2100" b="1">
                <a:solidFill>
                  <a:srgbClr val="F4F7EF"/>
                </a:solidFill>
              </a:rPr>
              <a:t>设定意图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B5741-E9F1-4EAA-B589-816EE772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95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9CFC6"/>
                </a:solidFill>
              </a:defRPr>
            </a:pPr>
            <a:r>
              <a:rPr sz="1425">
                <a:solidFill>
                  <a:srgbClr val="B9CFC6"/>
                </a:solidFill>
              </a:rPr>
              <a:t>写代码 / 写作 / 阅读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4D153-70FE-479D-964D-FD063B28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051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9CFC6"/>
                </a:solidFill>
              </a:defRPr>
            </a:pPr>
            <a:r>
              <a:rPr sz="2550" b="1">
                <a:solidFill>
                  <a:srgbClr val="B9CFC6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850DA-D874-455E-AC77-16F520AF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288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67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C36AF-8930-4D8C-9C0F-AEBEBA5D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43175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017"/>
                </a:solidFill>
              </a:defRPr>
            </a:pPr>
            <a:r>
              <a:rPr sz="2250" b="1">
                <a:solidFill>
                  <a:srgbClr val="071017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D1517-BE77-4BAC-8976-6A47382C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432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F7EF"/>
                </a:solidFill>
              </a:defRPr>
            </a:pPr>
            <a:r>
              <a:rPr sz="2100" b="1">
                <a:solidFill>
                  <a:srgbClr val="F4F7EF"/>
                </a:solidFill>
              </a:rPr>
              <a:t>网页陪伴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1E30F-BDC1-4110-B93E-C6068FEC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95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9CFC6"/>
                </a:solidFill>
              </a:defRPr>
            </a:pPr>
            <a:r>
              <a:rPr sz="1425">
                <a:solidFill>
                  <a:srgbClr val="B9CFC6"/>
                </a:solidFill>
              </a:rPr>
              <a:t>摇篮轻轻漂过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EF2F6-20B8-4D97-8DAC-3E97B417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051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9CFC6"/>
                </a:solidFill>
              </a:defRPr>
            </a:pPr>
            <a:r>
              <a:rPr sz="2550" b="1">
                <a:solidFill>
                  <a:srgbClr val="B9CFC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35778-0271-45F2-826B-DDC1BFB1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288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0C646-6187-4CF6-AC42-45F2E80A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3175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017"/>
                </a:solidFill>
              </a:defRPr>
            </a:pPr>
            <a:r>
              <a:rPr sz="2250" b="1">
                <a:solidFill>
                  <a:srgbClr val="071017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CA903-3A1B-4A9D-A2EB-39D164FE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432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F7EF"/>
                </a:solidFill>
              </a:defRPr>
            </a:pPr>
            <a:r>
              <a:rPr sz="2100" b="1">
                <a:solidFill>
                  <a:srgbClr val="F4F7EF"/>
                </a:solidFill>
              </a:rPr>
              <a:t>轻提醒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C3BB14-20FC-4208-9B70-75539EB1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95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9CFC6"/>
                </a:solidFill>
              </a:defRPr>
            </a:pPr>
            <a:r>
              <a:rPr sz="1425">
                <a:solidFill>
                  <a:srgbClr val="B9CFC6"/>
                </a:solidFill>
              </a:rPr>
              <a:t>YES / NO，不纠缠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076E38-6C72-441D-9B4B-4114333A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051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9CFC6"/>
                </a:solidFill>
              </a:defRPr>
            </a:pPr>
            <a:r>
              <a:rPr sz="2550" b="1">
                <a:solidFill>
                  <a:srgbClr val="B9CFC6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38AB36-4575-41CA-AF5B-83B5E821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288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D02BD5-C6C9-49AC-B119-33B5C72F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43175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017"/>
                </a:solidFill>
              </a:defRPr>
            </a:pPr>
            <a:r>
              <a:rPr sz="2250" b="1">
                <a:solidFill>
                  <a:srgbClr val="071017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5A647D-46AD-46C6-9029-67FE7A32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432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F7EF"/>
                </a:solidFill>
              </a:defRPr>
            </a:pPr>
            <a:r>
              <a:rPr sz="2100" b="1">
                <a:solidFill>
                  <a:srgbClr val="F4F7EF"/>
                </a:solidFill>
              </a:rPr>
              <a:t>随机表情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E3E79F-4B02-4FED-A5E7-D450A032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195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9CFC6"/>
                </a:solidFill>
              </a:defRPr>
            </a:pPr>
            <a:r>
              <a:rPr sz="1425">
                <a:solidFill>
                  <a:srgbClr val="B9CFC6"/>
                </a:solidFill>
              </a:rPr>
              <a:t>发功、偷看、休息一下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CFEAD7-E07C-4006-B83D-A4256FF5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9CFC6"/>
                </a:solidFill>
              </a:defRPr>
            </a:pPr>
            <a:r>
              <a:rPr sz="1800">
                <a:solidFill>
                  <a:srgbClr val="B9CFC6"/>
                </a:solidFill>
              </a:rPr>
              <a:t>每次出现都很短，用户不用管理它，只是感觉它在。</a:t>
            </a:r>
          </a:p>
        </p:txBody>
      </p:sp>
    </p:spTree>
    <p:extLst>
      <p:ext uri="{BB962C8B-B14F-4D97-AF65-F5344CB8AC3E}">
        <p14:creationId xmlns:p14="http://schemas.microsoft.com/office/powerpoint/2010/main" val="41413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F31E33-89F4-4A73-BC14-F93D4DB3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1E476-F32C-475D-8013-7F0D8722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DD3AD-B029-4932-A5DF-96606DD2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7EF"/>
                </a:solidFill>
              </a:defRPr>
            </a:pPr>
            <a:r>
              <a:rPr sz="3300" b="1">
                <a:solidFill>
                  <a:srgbClr val="F4F7EF"/>
                </a:solidFill>
              </a:rPr>
              <a:t>视觉要先让人觉得好玩，再谈提醒。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2F62E-FB08-4D36-B330-982B4E66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062990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2F2">
              <a:alpha val="12157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7B1B6-E7EA-43C5-A331-F59C5DFF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06299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B3B55-15D1-4421-88DB-24976666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5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8F539-FE0E-447C-A844-3BDC2AD8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2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69B07-2DB3-46AA-88B6-824AC171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84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1A209-DE9F-48A8-B5A2-FCA2983A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90700"/>
            <a:ext cx="85344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C141D">
              <a:alpha val="80000"/>
            </a:srgbClr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cdf18228947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52550" y="2381250"/>
            <a:ext cx="2095500" cy="2095500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dbf4ddad143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2381250"/>
            <a:ext cx="2095500" cy="2095500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88312f60f44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24900" y="2381250"/>
            <a:ext cx="2095500" cy="2095500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36671-8683-4F15-AB70-A82632BD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24400"/>
            <a:ext cx="16192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8FBF2"/>
          </a:solidFill>
          <a:ln xmlns:a="http://schemas.openxmlformats.org/drawingml/2006/main" w="9525">
            <a:solidFill>
              <a:srgbClr val="FFFFFF">
                <a:alpha val="53333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88101-619F-4A55-96E0-64A532D6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006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C83FF"/>
                </a:solidFill>
              </a:defRPr>
            </a:pPr>
            <a:r>
              <a:rPr sz="1500" b="1">
                <a:solidFill>
                  <a:srgbClr val="7C83FF"/>
                </a:solidFill>
              </a:rPr>
              <a:t>偷偷看一眼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E756F-E1D4-4C94-9BC1-C885CD08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24400"/>
            <a:ext cx="12192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8FBF2"/>
          </a:solidFill>
          <a:ln xmlns:a="http://schemas.openxmlformats.org/drawingml/2006/main" w="9525">
            <a:solidFill>
              <a:srgbClr val="FFFFFF">
                <a:alpha val="53333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6BF83-9709-4AC2-AF38-A3F77225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8006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166"/>
                </a:solidFill>
              </a:defRPr>
            </a:pPr>
            <a:r>
              <a:rPr sz="1500" b="1">
                <a:solidFill>
                  <a:srgbClr val="FFD166"/>
                </a:solidFill>
              </a:rPr>
              <a:t>发功中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B3545-DC52-4B92-BE65-64DAD559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24400"/>
            <a:ext cx="14859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8FBF2"/>
          </a:solidFill>
          <a:ln xmlns:a="http://schemas.openxmlformats.org/drawingml/2006/main" w="9525">
            <a:solidFill>
              <a:srgbClr val="FFFFFF">
                <a:alpha val="53333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724AA-A7C4-4903-AA69-F06DEE53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00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7D67A"/>
                </a:solidFill>
              </a:defRPr>
            </a:pPr>
            <a:r>
              <a:rPr sz="1500" b="1">
                <a:solidFill>
                  <a:srgbClr val="37D67A"/>
                </a:solidFill>
              </a:rPr>
              <a:t>YES，继续</a:t>
            </a:r>
          </a:p>
        </p:txBody>
      </p:sp>
    </p:spTree>
    <p:extLst>
      <p:ext uri="{BB962C8B-B14F-4D97-AF65-F5344CB8AC3E}">
        <p14:creationId xmlns:p14="http://schemas.microsoft.com/office/powerpoint/2010/main" val="2404922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611E68-850E-4970-B073-BE6F01CB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D395C-EE31-4094-9125-CFE4AA34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15EFD-D679-492A-8297-47B913D6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7EF"/>
                </a:solidFill>
              </a:defRPr>
            </a:pPr>
            <a:r>
              <a:rPr sz="3300" b="1">
                <a:solidFill>
                  <a:srgbClr val="F4F7EF"/>
                </a:solidFill>
              </a:rPr>
              <a:t>提醒要像宠物碰你一下，而不是系统警告。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21748-CF29-4A37-AA8E-429F3155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857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63772-D571-467F-89BB-42BE1867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67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9879D-E407-473E-BEF0-ADE17325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90725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EF"/>
                </a:solidFill>
              </a:defRPr>
            </a:pPr>
            <a:r>
              <a:rPr sz="1950" b="1">
                <a:solidFill>
                  <a:srgbClr val="F4F7EF"/>
                </a:solidFill>
              </a:rPr>
              <a:t>写作 / 编码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9EF5C-B540-475F-8693-3D4D5328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47925"/>
            <a:ext cx="4362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CFC6"/>
                </a:solidFill>
              </a:defRPr>
            </a:pPr>
            <a:r>
              <a:rPr sz="1350">
                <a:solidFill>
                  <a:srgbClr val="B9CFC6"/>
                </a:solidFill>
              </a:rPr>
              <a:t>用户在 GitHub、文档、编辑器页面时，古古用 YES 和轻表情陪跑。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01C46-ACF5-443C-9790-43255A21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4857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889A1-85BF-47E2-971E-97A63207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95D50-F20E-491B-9C8E-452E4197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90725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EF"/>
                </a:solidFill>
              </a:defRPr>
            </a:pPr>
            <a:r>
              <a:rPr sz="1950" b="1">
                <a:solidFill>
                  <a:srgbClr val="F4F7EF"/>
                </a:solidFill>
              </a:rPr>
              <a:t>刷视频 / 分心页面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B0A56-1EFD-41B5-92B0-47D24CB3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47925"/>
            <a:ext cx="4362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CFC6"/>
                </a:solidFill>
              </a:defRPr>
            </a:pPr>
            <a:r>
              <a:rPr sz="1350">
                <a:solidFill>
                  <a:srgbClr val="B9CFC6"/>
                </a:solidFill>
              </a:rPr>
              <a:t>出现 NO，但不黑屏、不惩罚，只提醒“你可能偏航了”。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8150E-93E0-495B-B7ED-DADA1F51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4857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8DA40-5279-4D25-906E-F09D7085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EE1EB-7A02-4352-BDAA-69567126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EF"/>
                </a:solidFill>
              </a:defRPr>
            </a:pPr>
            <a:r>
              <a:rPr sz="1950" b="1">
                <a:solidFill>
                  <a:srgbClr val="F4F7EF"/>
                </a:solidFill>
              </a:rPr>
              <a:t>新闻 / 搜索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54F8A-3EFA-4AC4-B54E-B7A9C95F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4362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CFC6"/>
                </a:solidFill>
              </a:defRPr>
            </a:pPr>
            <a:r>
              <a:rPr sz="1350">
                <a:solidFill>
                  <a:srgbClr val="B9CFC6"/>
                </a:solidFill>
              </a:rPr>
              <a:t>不默认判定为坏事，更多看用户当前设定的意图。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9BDDB-6DA5-4516-B508-46E392D1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4857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A22B5-176E-48CF-9EA7-0AE7FD64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3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9B7433-6C2D-4E12-A43F-EC1DDBC5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EF"/>
                </a:solidFill>
              </a:defRPr>
            </a:pPr>
            <a:r>
              <a:rPr sz="1950" b="1">
                <a:solidFill>
                  <a:srgbClr val="F4F7EF"/>
                </a:solidFill>
              </a:rPr>
              <a:t>休息时刻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BBBD62-2D8C-496B-9A92-640A8CE1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95800"/>
            <a:ext cx="4362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CFC6"/>
                </a:solidFill>
              </a:defRPr>
            </a:pPr>
            <a:r>
              <a:rPr sz="1350">
                <a:solidFill>
                  <a:srgbClr val="B9CFC6"/>
                </a:solidFill>
              </a:rPr>
              <a:t>随机小表情可以成为短暂解压，而不是效率 KPI。</a:t>
            </a:r>
          </a:p>
        </p:txBody>
      </p:sp>
    </p:spTree>
    <p:extLst>
      <p:ext uri="{BB962C8B-B14F-4D97-AF65-F5344CB8AC3E}">
        <p14:creationId xmlns:p14="http://schemas.microsoft.com/office/powerpoint/2010/main" val="15450423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289E1F-9620-4764-ADF5-436EBDD3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346A3-AB81-416C-899A-807CB9A9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4C742-0AFA-4223-A5D6-81D66626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7EF"/>
                </a:solidFill>
              </a:defRPr>
            </a:pPr>
            <a:r>
              <a:rPr sz="3300" b="1">
                <a:solidFill>
                  <a:srgbClr val="F4F7EF"/>
                </a:solidFill>
              </a:rPr>
              <a:t>这个产品的边界感很重要。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9FB72-53D7-47B8-A84C-F5ED13F3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4286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7335B-B37E-4D7F-9810-FEBCF00B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67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D8ECA-5227-48AF-876B-EF67718A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288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EF"/>
                </a:solidFill>
              </a:defRPr>
            </a:pPr>
            <a:r>
              <a:rPr sz="1950" b="1">
                <a:solidFill>
                  <a:srgbClr val="F4F7EF"/>
                </a:solidFill>
              </a:rPr>
              <a:t>少打扰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BB6EC-A650-46D8-9D40-10FF220D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CFC6"/>
                </a:solidFill>
              </a:defRPr>
            </a:pPr>
            <a:r>
              <a:rPr sz="1350">
                <a:solidFill>
                  <a:srgbClr val="B9CFC6"/>
                </a:solidFill>
              </a:rPr>
              <a:t>出现短、频率低、可关闭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5A942-7F1E-4647-9689-0D2B30B8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286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42D7B-E4F0-450A-8A80-77ADADE7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3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448ED-0746-47FF-9124-79BA9E61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288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EF"/>
                </a:solidFill>
              </a:defRPr>
            </a:pPr>
            <a:r>
              <a:rPr sz="1950" b="1">
                <a:solidFill>
                  <a:srgbClr val="F4F7EF"/>
                </a:solidFill>
              </a:rPr>
              <a:t>少配置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64FFE-1B44-461B-B68A-9A34F799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86050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CFC6"/>
                </a:solidFill>
              </a:defRPr>
            </a:pPr>
            <a:r>
              <a:rPr sz="1350">
                <a:solidFill>
                  <a:srgbClr val="B9CFC6"/>
                </a:solidFill>
              </a:rPr>
              <a:t>不要把用户拖进复杂分档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55FDC-9C77-45B2-9BCE-897C3347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4286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1E9F2-4423-4E29-8CEF-30BD8013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8759E-377C-4C71-99A1-09644CA6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2910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EF"/>
                </a:solidFill>
              </a:defRPr>
            </a:pPr>
            <a:r>
              <a:rPr sz="1950" b="1">
                <a:solidFill>
                  <a:srgbClr val="F4F7EF"/>
                </a:solidFill>
              </a:rPr>
              <a:t>表情先行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AD873-D845-40B7-A12B-90D62E79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86300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CFC6"/>
                </a:solidFill>
              </a:defRPr>
            </a:pPr>
            <a:r>
              <a:rPr sz="1350">
                <a:solidFill>
                  <a:srgbClr val="B9CFC6"/>
                </a:solidFill>
              </a:rPr>
              <a:t>先把漂浮、摇篮、情绪做对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91BE1-8B67-4501-A2E0-67D750E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286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CF432-5BD5-4BBC-996D-D4039D82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5EB3B-BC3A-4872-9E46-7FD8E3ED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2910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EF"/>
                </a:solidFill>
              </a:defRPr>
            </a:pPr>
            <a:r>
              <a:rPr sz="1950" b="1">
                <a:solidFill>
                  <a:srgbClr val="F4F7EF"/>
                </a:solidFill>
              </a:rPr>
              <a:t>场景后置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88DC3E-D381-493C-87E2-1615779B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86300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CFC6"/>
                </a:solidFill>
              </a:defRPr>
            </a:pPr>
            <a:r>
              <a:rPr sz="1350">
                <a:solidFill>
                  <a:srgbClr val="B9CFC6"/>
                </a:solidFill>
              </a:rPr>
              <a:t>等效果稳定后再细分网站规则</a:t>
            </a:r>
          </a:p>
        </p:txBody>
      </p:sp>
    </p:spTree>
    <p:extLst>
      <p:ext uri="{BB962C8B-B14F-4D97-AF65-F5344CB8AC3E}">
        <p14:creationId xmlns:p14="http://schemas.microsoft.com/office/powerpoint/2010/main" val="11024274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104AC4-E182-46A1-A348-D61A9032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44299-500F-478B-A877-84552B7B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A2DFC-3A19-4EDF-8532-CE03CCAA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7EF"/>
                </a:solidFill>
              </a:defRPr>
            </a:pPr>
            <a:r>
              <a:rPr sz="3300" b="1">
                <a:solidFill>
                  <a:srgbClr val="F4F7EF"/>
                </a:solidFill>
              </a:rPr>
              <a:t>下一步先打磨“出现的那一秒”。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2B391-C317-4382-9E43-16290D09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9CFC6"/>
                </a:solidFill>
              </a:defRPr>
            </a:pPr>
            <a:r>
              <a:rPr sz="1800">
                <a:solidFill>
                  <a:srgbClr val="B9CFC6"/>
                </a:solidFill>
              </a:rPr>
              <a:t>如果那一秒足够可爱，用户才会愿意让它一直待在浏览器里。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E5710-05C9-4A6C-A42B-B2C3B8B1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1AD51-8271-434B-BAF1-8EB9422A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55FBB-0C61-4316-BE39-423C4EAE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62225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EF"/>
                </a:solidFill>
              </a:defRPr>
            </a:pPr>
            <a:r>
              <a:rPr sz="1950" b="1">
                <a:solidFill>
                  <a:srgbClr val="F4F7EF"/>
                </a:solidFill>
              </a:rPr>
              <a:t>1. 素材质感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4DA55-3D62-47C9-B98F-A9E547BE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19425"/>
            <a:ext cx="2743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CFC6"/>
                </a:solidFill>
              </a:defRPr>
            </a:pPr>
            <a:r>
              <a:rPr sz="1350">
                <a:solidFill>
                  <a:srgbClr val="B9CFC6"/>
                </a:solidFill>
              </a:rPr>
              <a:t>继续调亮、裁切、摇篮遮挡和表情识别度。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12ED4-D268-463A-A578-9BE6DC44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7C874-017E-4405-9056-70E7BB99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3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9B268-ABDE-40AB-BDC7-CF1C410E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62225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EF"/>
                </a:solidFill>
              </a:defRPr>
            </a:pPr>
            <a:r>
              <a:rPr sz="1950" b="1">
                <a:solidFill>
                  <a:srgbClr val="F4F7EF"/>
                </a:solidFill>
              </a:rPr>
              <a:t>2. 表情库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D517D-A58B-43EF-B904-AA4FD674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19425"/>
            <a:ext cx="2743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CFC6"/>
                </a:solidFill>
              </a:defRPr>
            </a:pPr>
            <a:r>
              <a:rPr sz="1350">
                <a:solidFill>
                  <a:srgbClr val="B9CFC6"/>
                </a:solidFill>
              </a:rPr>
              <a:t>新增更多短小、可循环、低打扰的随机表情。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EA0A7-AF95-471D-873C-8F5AF63F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81D5A-F4C7-4871-8282-83C74CC7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67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8E9AC-0F9F-4EA5-8380-F14E3631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62225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EF"/>
                </a:solidFill>
              </a:defRPr>
            </a:pPr>
            <a:r>
              <a:rPr sz="1950" b="1">
                <a:solidFill>
                  <a:srgbClr val="F4F7EF"/>
                </a:solidFill>
              </a:rPr>
              <a:t>3. 场景映射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42466-A69C-423F-A172-C0C667AB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19425"/>
            <a:ext cx="2743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CFC6"/>
                </a:solidFill>
              </a:defRPr>
            </a:pPr>
            <a:r>
              <a:rPr sz="1350">
                <a:solidFill>
                  <a:srgbClr val="B9CFC6"/>
                </a:solidFill>
              </a:rPr>
              <a:t>最后再分配写作、编码、视频、新闻等规则。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6AC67-F4A4-4B5F-82EF-DE2E6C23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F7EF"/>
                </a:solidFill>
              </a:defRPr>
            </a:pPr>
            <a:r>
              <a:rPr sz="2550" b="1">
                <a:solidFill>
                  <a:srgbClr val="F4F7EF"/>
                </a:solidFill>
              </a:rPr>
              <a:t>先把宠物做好，再让它懂事。</a:t>
            </a:r>
          </a:p>
        </p:txBody>
      </p:sp>
    </p:spTree>
    <p:extLst>
      <p:ext uri="{BB962C8B-B14F-4D97-AF65-F5344CB8AC3E}">
        <p14:creationId xmlns:p14="http://schemas.microsoft.com/office/powerpoint/2010/main" val="11969061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2026-07-04T07:16:54.4650000Z</dcterms:created>
  <dcterms:modified xsi:type="dcterms:W3CDTF">2026-07-04T07:16:54.4650000Z</dcterms:modified>
</coreProperties>
</file>